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EXPLAINABLE PLANT DISEASE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CC71"/>
                </a:solidFill>
                <a:latin typeface="Calibri"/>
              </a:rPr>
              <a:t>via Concept Bottleneck Modelling with Swin Transformer Backbone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DEE"/>
                </a:solidFill>
                <a:latin typeface="Calibri"/>
              </a:rPr>
              <a:t>URE Research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Anushka Mahraniya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36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USN: 20221CSD0151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Guide: Meena Kumari K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  <a:latin typeface="Calibri"/>
              </a:rPr>
              <a:t>Presidency University, Bengaluru | B.Tech CSE (Data Science) | April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66360"/>
            <a:ext cx="112745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57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CC71"/>
                </a:solidFill>
                <a:latin typeface="Calibri"/>
              </a:rPr>
              <a:t>PlantVillage + PlantDoc  ●  38 Disease Classes  ●  99.91% Accuracy  ●  Deployed on Hugging 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Why do we need better plant disease detection?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512064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🌿  Plant diseases destroy 20–40% of global crop yield every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1155680" cy="118872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❌  Current AI models are Black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  <a:latin typeface="Calibri"/>
              </a:rPr>
              <a:t>Farmers get a prediction but no explanation — they don't know WHY the model said what it said.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11155680" cy="118872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19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❌  Lab images ≠ Real field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  <a:latin typeface="Calibri"/>
              </a:rPr>
              <a:t>Models trained on clean lab photos fail when tested on real, messy, outdoor field photographs.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11155680" cy="118872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4515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❌  Too heavy for field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  <a:latin typeface="Calibri"/>
              </a:rPr>
              <a:t>Large deep learning models cannot run on the phones and tablets farmers actually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Our Solution — PlantDiseaseCBM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One model. Three problems solved.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2651760" cy="47548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🧠 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9659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Concept Bottleneck Model
explains predictions using
12 biological symptoms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1280160"/>
            <a:ext cx="2651760" cy="47548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7832" y="128016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🌿  Generalisation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9659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Trained on PlantVillage +
PlantDoc (real field photos)
for real-world robustness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1280160"/>
            <a:ext cx="2651760" cy="47548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28016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⚡ 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19659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INT8 Quantisation makes
the model 23% smaller &amp;
1.3× faster on CPU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280160"/>
            <a:ext cx="2651760" cy="47548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28016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🔬  XAI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19659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4 explanation tools:
counterfactuals, faithfulness,
intervention, importance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What data was the model trained 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57784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  <a:latin typeface="Calibri"/>
              </a:rPr>
              <a:t>🗂  PlantVillage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ECC71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54,306 colour leaf images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ECC71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38 disease-species classes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ECC71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14 crop species (Apple, Tomato,
   Corn, Grape, Potato…)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ECC71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Controlled lab background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ECC71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Split: 70% train / 15% val / 15%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57784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39C12"/>
                </a:solidFill>
                <a:latin typeface="Calibri"/>
              </a:rPr>
              <a:t>🌾  PlantDoc (Field Images)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39C12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2,598 real field photographs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39C12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27 disease classes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39C12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Natural backgrounds, variable light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39C12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Multiple leaves per frame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39C12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Used for out-of-distribution testing</a:t>
            </a:r>
          </a:p>
        </p:txBody>
      </p:sp>
      <p:pic>
        <p:nvPicPr>
          <p:cNvPr id="15" name="Picture 14" descr="fig4_datase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1430000" cy="56572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 Architecture — PlantDiseaseCBM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How does the model work?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2468880" cy="2011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Input Image
224×224 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2468880" cy="2011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82880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4231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Swin Transformer
+ SE Attention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2468880" cy="2011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12 Concept
Bottleneck Scores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828800"/>
            <a:ext cx="2468880" cy="2011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82880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231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38-Class
Disease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CC71"/>
                </a:solidFill>
                <a:latin typeface="Calibri"/>
              </a:rPr>
              <a:t>The KEY innovation: All predictions MUST pass through the 12 concept scores.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EE"/>
                </a:solidFill>
                <a:latin typeface="Calibri"/>
              </a:rPr>
              <a:t>This means the model is forced to explain itself using biological symptoms before giving an answer.</a:t>
            </a:r>
          </a:p>
        </p:txBody>
      </p:sp>
      <p:pic>
        <p:nvPicPr>
          <p:cNvPr id="30" name="Picture 29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820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12 Biological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The model thinks in terms of these symptoms — just like a plant doctor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261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Lesion Color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118872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118872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261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1261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Lesion Shape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118872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18872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261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1261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Lesion Spread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6" y="118872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7696" y="118872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1261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1261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Necrosis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1460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2587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587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Chlorosis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82112" y="251460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82112" y="251460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2587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3592" y="2587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Wilting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9904" y="251460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9904" y="251460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2587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1384" y="2587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Spotting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97696" y="251460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97696" y="251460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07424" y="2587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9176" y="2587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Blight Pattern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84048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38404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3913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9136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Mold Presence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82112" y="384048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82112" y="38404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3913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3592" y="39136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Leaf Curl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9904" y="384048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9904" y="38404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2" y="3913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01384" y="39136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Vein Discolor.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97696" y="3840480"/>
            <a:ext cx="2743200" cy="1188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97696" y="384048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3913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09176" y="39136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Lesion Texture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EE"/>
                </a:solidFill>
                <a:latin typeface="Calibri"/>
              </a:rPr>
              <a:t>Each concept is a biologically meaningful symptom score (0 to 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— 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How accurate is the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651760" cy="1417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258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Validation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18488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  <a:latin typeface="Calibri"/>
              </a:rPr>
              <a:t>99.91%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234440"/>
            <a:ext cx="2651760" cy="1417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123444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13258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Validation F1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618488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  <a:latin typeface="Calibri"/>
              </a:rPr>
              <a:t>99.78%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234440"/>
            <a:ext cx="2651760" cy="1417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23444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3258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Test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618488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  <a:latin typeface="Calibri"/>
              </a:rPr>
              <a:t>99.25%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234440"/>
            <a:ext cx="2651760" cy="1417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123444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7" y="13258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Test F1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1618488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  <a:latin typeface="Calibri"/>
              </a:rPr>
              <a:t>98.27%</a:t>
            </a:r>
          </a:p>
        </p:txBody>
      </p:sp>
      <p:pic>
        <p:nvPicPr>
          <p:cNvPr id="25" name="Picture 24" descr="fig3_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34640"/>
            <a:ext cx="5760720" cy="2041984"/>
          </a:xfrm>
          <a:prstGeom prst="rect">
            <a:avLst/>
          </a:prstGeom>
        </p:spPr>
      </p:pic>
      <p:pic>
        <p:nvPicPr>
          <p:cNvPr id="26" name="Picture 25" descr="fig6_summary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834640"/>
            <a:ext cx="5669280" cy="17400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Visual check — did the model confuse any diseases?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PlantVillage Validation Set (8,145 images)</a:t>
            </a:r>
          </a:p>
        </p:txBody>
      </p:sp>
      <p:pic>
        <p:nvPicPr>
          <p:cNvPr id="10" name="Picture 9" descr="Validation_PlantVillag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08760"/>
            <a:ext cx="5852160" cy="50524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Combined Test Set (8,311 images — includes real field photos)</a:t>
            </a:r>
          </a:p>
        </p:txBody>
      </p:sp>
      <p:pic>
        <p:nvPicPr>
          <p:cNvPr id="12" name="Picture 11" descr="Test_Combined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08760"/>
            <a:ext cx="5852160" cy="50524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  <a:latin typeface="Calibri"/>
              </a:rPr>
              <a:t>Almost perfect diagonal — very few misclassifications across all 38 disease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Explainability (XAI)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How do we know the model truly understands disease?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743200" cy="36576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🔄  Counterfactual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874519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Shows the minimum change to concepts
needed to flip a disease → healthy.
Tells farmers: 'fix THIS symptom first.'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2743200" cy="36576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📈  Faithfulness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874519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Insertion AUC: 0.847
Deletion AUC: 0.312
Proves concepts genuinely drive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2743200" cy="36576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🎛  Intervention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874519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Hard-setting each concept to 0 or 1
and measuring accuracy change.
Shows which concepts matter most.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234440"/>
            <a:ext cx="2743200" cy="36576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23444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🏆  Importance 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1874519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Ranks concepts by mean activation
across all validation images.
Surface the most common symptoms.</a:t>
            </a:r>
          </a:p>
        </p:txBody>
      </p:sp>
      <p:pic>
        <p:nvPicPr>
          <p:cNvPr id="25" name="Picture 24" descr="xai_fig2_faithful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0"/>
            <a:ext cx="5669280" cy="2165595"/>
          </a:xfrm>
          <a:prstGeom prst="rect">
            <a:avLst/>
          </a:prstGeom>
        </p:spPr>
      </p:pic>
      <p:pic>
        <p:nvPicPr>
          <p:cNvPr id="26" name="Picture 25" descr="xai_fig4_concept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5029200"/>
            <a:ext cx="5669280" cy="28060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Deployment — Live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Anyone can use it right now, from any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9144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  <a:latin typeface="Calibri"/>
              </a:rPr>
              <a:t>🌐  https://anushkamahraniya-palnt-disease-predictor.hf.space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6517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📤 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Upload any leaf photo
from phone or browser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5263" y="2286000"/>
            <a:ext cx="26517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55263" y="228600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1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🔍  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1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Get disease name +
confidence score instantly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7" y="2286000"/>
            <a:ext cx="26517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7" y="228600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📊  XAI Chart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See which symptoms
the model detected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17151" y="2286000"/>
            <a:ext cx="26517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17151" y="228600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79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⚡  Fast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79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INT8 quantised model:
23% smaller, 1.3× faster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  <a:latin typeface="Calibri"/>
              </a:rPr>
              <a:t>Demo: Grape Esca (Black Measles) — 99.5% confidence | XAI shows lesion_spread &amp; wilting activated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Comparison with State-of-the-Art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PlantDiseaseCBM vs other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429000" cy="566928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2801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188720"/>
            <a:ext cx="1600200" cy="566928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12801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188720"/>
            <a:ext cx="1600200" cy="566928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2" y="12801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F1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188720"/>
            <a:ext cx="2331720" cy="566928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1280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Explainability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188720"/>
            <a:ext cx="1600200" cy="566928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12801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Field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10512"/>
            <a:ext cx="34290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19019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PlantDiseaseCBM (Ours)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1810512"/>
            <a:ext cx="16002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19019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99.91%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810512"/>
            <a:ext cx="16002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992" y="19019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99.78%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810512"/>
            <a:ext cx="233172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190195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Concept (Full)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1810512"/>
            <a:ext cx="16002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2" y="19019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432304"/>
            <a:ext cx="34290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52374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Swin-Small (Black Box)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2432304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13632" y="252374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99.10%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2432304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0992" y="252374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99.01%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2432304"/>
            <a:ext cx="233172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88352" y="2523744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2432304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7232" y="252374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54096"/>
            <a:ext cx="34290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14553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ResNet-50 + GradCAM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054096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3145536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98.20%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3054096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50992" y="3145536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98.12%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3054096"/>
            <a:ext cx="233172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88352" y="3145536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⚠ Post-hoc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84080" y="3054096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57232" y="3145536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675888"/>
            <a:ext cx="34290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376732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Vision Transformer (ViT)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3675888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13632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97.80%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3675888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50992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97.70%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0" y="3675888"/>
            <a:ext cx="233172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8352" y="376732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⚠ Attention map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84080" y="3675888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57232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297680"/>
            <a:ext cx="34290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" y="438912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VGG-16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4297680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13632" y="43891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97.80%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4297680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50992" y="43891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97.75%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0" y="4297680"/>
            <a:ext cx="233172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88352" y="43891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84080" y="4297680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57232" y="43891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919472"/>
            <a:ext cx="34290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7472" y="501091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MobileNet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4919472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13632" y="50109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93.00%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77840" y="4919472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50992" y="50109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92.30%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0" y="4919472"/>
            <a:ext cx="233172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88352" y="501091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84080" y="4919472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57232" y="50109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✅ Yes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  <a:latin typeface="Calibri"/>
              </a:rPr>
              <a:t>PlantDiseaseCBM is the ONLY model that is accurate AND explainable AND tested on real field images.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Research accepted at an international conference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73152" cy="4937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8016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Paper Title: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2801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Counterfactual Concept Bottleneck Networks with Squeeze-and-Excitation
for Explainable Plant Disease 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39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Conference: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920239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ICDAM 2026 — 7th International Conference on Data Analytics &amp;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Paper ID: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1082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Track: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20040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SS-13: AI and ML for Secure, Explainable, and Sustainable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4048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Publisher: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84048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Springer Nature – LNNS Series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8056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Indexed: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4805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SCOPUS, INSPEC, zbMATH, SCImago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2064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Status: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1206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Accepted — Presentation scheduled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What was achieved and what comes next?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57784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  <a:latin typeface="Calibri"/>
              </a:rPr>
              <a:t>✅  What We 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99.91% accuracy on 38 disease classes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First CBM applied to multi-class
   plant disease detection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4 XAI tools for biological explanations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Deployed live on Hugging Face Space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Published at ICDAM 2026 (Springer LNNS)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23% smaller model via INT8 quantisation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57784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  <a:latin typeface="Calibri"/>
              </a:rPr>
              <a:t>🔭  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F39C12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Expert-annotated concept labels
   from certified plant pathologists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39C12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Expand to 30+ disease concepts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39C12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TensorRT deployment for
   NVIDIA Jetson edge devices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39C12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Uncertainty estimation to flag
   low-confidence predictions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39C12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Mobile app for direct farmer 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CC7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Anushka Mahraniya  |  20221CSD0151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Guide: Meena Kumari K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Presidency University, Bengaluru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  <a:latin typeface="Calibri"/>
              </a:rPr>
              <a:t>🌐  https://anushkamahraniya-palnt-disease-predictor.hf.space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EE"/>
                </a:solidFill>
                <a:latin typeface="Calibri"/>
              </a:rPr>
              <a:t>📧  anushkamahraniya@gmail.com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