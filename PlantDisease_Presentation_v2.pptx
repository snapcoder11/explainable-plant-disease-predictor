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EXPLAINABLE PLANT DISEASE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CC71"/>
                </a:solidFill>
                <a:latin typeface="Calibri"/>
              </a:rPr>
              <a:t>via Concept Bottleneck Modelling with Swin Transformer 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DEE"/>
                </a:solidFill>
                <a:latin typeface="Calibri"/>
              </a:rPr>
              <a:t>URE Research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Anushka Mahraniya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136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USN: 20221CSD0151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Guide: Meena Kumari K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  <a:latin typeface="Calibri"/>
              </a:rPr>
              <a:t>Presidency University, Bengaluru | B.Tech CSE (Data Science) |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66360"/>
            <a:ext cx="112745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57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  <a:latin typeface="Calibri"/>
              </a:rPr>
              <a:t>PlantVillage + PlantDoc  ●  38 Disease Classes  ●  99.91% Accuracy  ●  Deployed on Hugging 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Why do we need better plant disease detection?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512064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🌿  Plant diseases destroy 20–40% of global crop yield every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155680" cy="11887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❌  Current AI models are Black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  <a:latin typeface="Calibri"/>
              </a:rPr>
              <a:t>Farmers get a prediction but no explanation — they don't know WHY the model said what it said.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11155680" cy="11887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❌  Lab images ≠ Real field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  <a:latin typeface="Calibri"/>
              </a:rPr>
              <a:t>Models trained on clean lab photos fail when tested on real, messy, outdoor field photographs.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1155680" cy="11887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❌  Too heavy for field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  <a:latin typeface="Calibri"/>
              </a:rPr>
              <a:t>Large deep learning models cannot run on the phones and tablets farmers actually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Solution — PlantDiseaseCBM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One model. Three problems solved.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🧠 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Concept Bottleneck Model
explains predictions using
12 biological symptoms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🌿  Generalisation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Trained on PlantVillage +
PlantDoc (real field photos)
for real-world robustness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⚡ 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INT8 Quantisation makes
the model 23% smaller &amp;
1.3× faster on CPU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280160"/>
            <a:ext cx="2651760" cy="47548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128016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🔬  XAI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196596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 explanation tools:
counterfactuals, faithfulness,
intervention, importance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What data was the model trained 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  <a:latin typeface="Calibri"/>
              </a:rPr>
              <a:t>🗂  PlantVillage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54,306 colour leaf images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38 disease-species classes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14 crop species (Apple, Tomato,
   Corn, Grape, Potato…)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Controlled lab background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ECC71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Split: 70% train / 15% val / 15%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C12"/>
                </a:solidFill>
                <a:latin typeface="Calibri"/>
              </a:rPr>
              <a:t>🌾  PlantDoc (Field Images)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2,598 real field photographs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27 disease classes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Natural backgrounds, variable light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Multiple leaves per frame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39C12"/>
                </a:solidFill>
                <a:latin typeface="Calibri"/>
              </a:rPr>
              <a:t>● </a:t>
            </a:r>
            <a:r>
              <a:rPr sz="1600">
                <a:solidFill>
                  <a:srgbClr val="FFFFFF"/>
                </a:solidFill>
                <a:latin typeface="Calibri"/>
              </a:rPr>
              <a:t>Used for out-of-distribution testing</a:t>
            </a:r>
          </a:p>
        </p:txBody>
      </p:sp>
      <p:pic>
        <p:nvPicPr>
          <p:cNvPr id="15" name="Picture 14" descr="fig4_datase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430000" cy="5657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Architecture — PlantDiseaseCBM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How does the model work?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Input Image
224×224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Swin Transformer
+ SE Attention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12 Concept
Bottleneck 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828800"/>
            <a:ext cx="2468880" cy="2011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82880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231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38-Class
Disease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  <a:latin typeface="Calibri"/>
              </a:rPr>
              <a:t>The KEY innovation: All predictions MUST pass through the 12 concept scores.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EE"/>
                </a:solidFill>
                <a:latin typeface="Calibri"/>
              </a:rPr>
              <a:t>This means the model is forced to explain itself using biological symptoms before giving an answer.</a:t>
            </a:r>
          </a:p>
        </p:txBody>
      </p:sp>
      <p:pic>
        <p:nvPicPr>
          <p:cNvPr id="30" name="Picture 2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820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Algorithms &amp; Techniques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Every algorithm in this project —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188720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80160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280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600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Swin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19933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Hierarchical shifted-window self-attention
for extracting spatial disease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188720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188720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280160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1280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1600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SE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19933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Squeeze-and-Excitation channel recalibration
— amplifies disease-relevant feature channels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188720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11312" y="1280160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280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Core Innovation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1600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Concept Bottleneck (CBM)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19933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Forces all decisions through 12 interpretable
biology-based symptom scores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670048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2670048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2761488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27614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Optimisation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30815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Adam Optimizer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Adaptive learning rate optimiser
(lr=1e-4, weight decay=1e-4)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2670048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2670048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33672" y="2761488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2" y="27614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Loss Function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30815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CBM Composite Loss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672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Task loss + Concept BCE loss +
Diversity regularisation (λ=1.0/0.5/0.1)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2670048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2670048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11312" y="2761488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2" y="27614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Augmentation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30815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Albumentations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8-step pipeline: crop, flip, rotate,
color jitter, blur, noise, dropout, normalise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151376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4151376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56032" y="4242816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" y="4562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INT8 Dynamic Quantisation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49560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Compresses Linear layers from FP32→INT8
23% smaller model, 1.3× faster CPU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4151376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60520" y="4151376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33672" y="4242816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33672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XAI Method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4562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Counterfactual Perturb.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33672" y="49560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Adam optimised over 300 iters to find
minimum concept change to flip prediction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4151376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38160" y="4151376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2" y="4242816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11312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XAI Method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11312" y="4562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Insertion-Deletion AUC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11312" y="49560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Faithfulness test: Insertion AUC=0.847
Deletion AUC=0.312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5632704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2880" y="5632704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6032" y="5724144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032" y="5724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XAI Method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032" y="60441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Concept Intervention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" y="643737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Hard-sets each concept to 0 or 1
and measures accuracy change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60520" y="5632704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60520" y="5632704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33672" y="5724144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33672" y="5724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Serving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33672" y="60441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FastAPI + Docker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33672" y="643737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REST API endpoint for model inference
packaged in Docker container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5632704"/>
            <a:ext cx="3840480" cy="138988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5632704"/>
            <a:ext cx="384048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11312" y="5724144"/>
            <a:ext cx="1371600" cy="2926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11312" y="5724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Strategy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1312" y="60441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Stratified Split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11312" y="643737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70/15/15 train-val-test split
with fixed random seed=42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Training Algorithm — How the Model Learns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Step-by-step training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0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4864" cy="5029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📐  Loss Function (CBMLoss)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L  =  λ_task · L_task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   +  λ_concept · L_concept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   +  λ_div · L_diversity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λ_task    = 1.0   →  Cross-entropy (38 classes)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λ_concept = 0.5   →  Binary CE per concept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λ_div     = 0.1   →  Penalise concept correlation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Diversity Loss prevents all 12 concepts from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learning the same thing (concept collapse).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85216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54864" cy="5029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61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⚙️  Training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Epochs: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783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0370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Batch Size: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037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243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Optimizer: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624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Adam (lr=1e-4)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449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LR Scheduler: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044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CosineAnnealingLR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46557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Weight Decay: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4655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1e-4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8862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Backbone: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8862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Swin-Small (ImageNet pretrained)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068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Concept Labels: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306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Programmatic (keyword matching)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727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Random Seed: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7274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42 (reproducible)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1480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Framework: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51480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PyTorch 2.1.0 + timm 0.9.7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5686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  <a:latin typeface="Calibri"/>
              </a:rPr>
              <a:t>Augmentation: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5686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Albumentations 1.3.1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Swin Transformer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The backbone that sees the entire leaf, not just a small patch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0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4864" cy="5029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Why Swin? The 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CNN (ResNet):  sees only a 3x3 patch at a time.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           Cannot relate distant leaf regions.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ViT:           attends to ALL patches together.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           O(N2) cost — too slow for 224x224.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Swin:          local windows + periodic shifts.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           Captures both fine detail AND global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             disease spread. O(N)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Step 1 — Patch Partition (patch size =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CCDDEE"/>
                </a:solidFill>
                <a:latin typeface="Calibri"/>
              </a:rPr>
              <a:t>224x224 image  divided into 4x4 non-overlapping patches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DDEE"/>
                </a:solidFill>
                <a:latin typeface="Calibri"/>
              </a:rPr>
              <a:t>= 56 x 56 = 3,136 patches (tokens)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DDEE"/>
                </a:solidFill>
                <a:latin typeface="Calibri"/>
              </a:rPr>
              <a:t>Each patch: 48 raw pixel values  projected to 96-dim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DDEE"/>
                </a:solidFill>
                <a:latin typeface="Calibri"/>
              </a:rPr>
              <a:t>Result: 56 x 56 x 96 feature map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CCDDEE"/>
                </a:solidFill>
                <a:latin typeface="Calibri"/>
              </a:rPr>
              <a:t>Each patch is now one 'word' in a visual sentence.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88720"/>
            <a:ext cx="585216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188720"/>
            <a:ext cx="54864" cy="5029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618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Step 2 — Four Hierarchical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DEE"/>
                </a:solidFill>
                <a:latin typeface="Calibri"/>
              </a:rPr>
              <a:t>Like zooming out to understand context: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76272"/>
            <a:ext cx="5669280" cy="9601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2494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Stage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2494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56x56x96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Fine detail — edges, textures, lesion surfaces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27832"/>
            <a:ext cx="5669280" cy="9601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3009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Stage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3009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28x28x192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703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Local patterns — spot shapes, lesion boundaries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279392"/>
            <a:ext cx="5669280" cy="9601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3525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Stage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3525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14x14x384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7548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Mid-level — lesion spread, color zones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330952"/>
            <a:ext cx="5669280" cy="96012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4041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Stage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4041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7x7x768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806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Global — whole-leaf disease pattern  (used by your model)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9893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  <a:latin typeface="Calibri"/>
              </a:rPr>
              <a:t>Each stage: patches merged (2x2), channels doubled. Patch merge = stride-2 like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Swin Transformer — The Shifted Window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How the model connects distant leaf regions efficiently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0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4864" cy="5029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Window Multi-Head Self-Attention (W-MSA)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5212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Problem: attending over all 3,136 patches is O(N2) = too slow.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Solution: divide feature map into 7x7 windows.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56x56 patches  /  7x7 window = 64 local windows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Attention runs WITHIN each window (49 tokens each)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Cost: 64 x O(492)  instead of O(3,1362)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Inside each window — standard attention: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Q = token x W_Q   (what am I looking for?)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K = token x W_K   (what do I contain?)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V = token x W_V   (what info do I carry?)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Attention = softmax( QKT / sqrt(d) + B ) x V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B = Relative Position Bias (learned)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Encodes: 'these patches are 3 apart horizontally'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Teaches model: nearby lesions are more related.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85216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188720"/>
            <a:ext cx="54864" cy="5029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618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Shifted Window MSA (SW-MSA) — Key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55648"/>
            <a:ext cx="5577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Problem with W-MSA: patches at window BOUNDARIES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never communicate. Two adjacent windows are isolated.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Solution: alternate layers shift windows by (3,3):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Layer 1 (W-MSA):   aligned windows A B C 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Layer 2 (SW-MSA):  shift by half-window (3,3)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                   new window E crosses A/B/C/D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Window E crosses the original boundaries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=&gt; information flows between previously isolated windows.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After many such layer pairs: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A patch on one side of the leaf can influence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a patch on the opposite side.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For plant disease: the model can detect that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'brown edge lesion' + 'yellowing near centre'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together = a spreading blight pattern.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  A ResNet cannot make this connection.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Swin Produces the 0.5 Necrosis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Tracing the complete path from pixel to concept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713232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4864" cy="5029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Full Forward Pass — Grape Esca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6949440" cy="86868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74519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Swin Stages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837943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Detects dark brown edges, rough lesion textures.
These features DO resemble necrotic tissue.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15768"/>
            <a:ext cx="6949440" cy="86868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0720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Swin Stage 3-4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7063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Understands spatial distribution — spots are
scattered, not water-soaked margins.
This does NOT match bacterial necrosis.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48456"/>
            <a:ext cx="6949440" cy="86868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3989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39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SE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703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Channel recalibration: amplifies disease-relevant
channels, suppresses irrelevant ones.
Output: 768-dim vector (mixed signals).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81144"/>
            <a:ext cx="6949440" cy="86868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72583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7258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Necrosis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636007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Linear(768-&gt;256): projects to necrosis-relevant space.
BatchNorm + ReLU: normalise and keep positives.
Linear(256-&gt;1): weighted vote -&gt; scalar h3.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13831"/>
            <a:ext cx="6949440" cy="868680"/>
          </a:xfrm>
          <a:prstGeom prst="rect">
            <a:avLst/>
          </a:prstGeom>
          <a:solidFill>
            <a:srgbClr val="1A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605271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0527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Sigmoid(h3=0)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568695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h3 = positive signals - negative signals = ~0
Sigmoid(0) = 0.50
Model is mathematically uncertain — not random.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1188720"/>
            <a:ext cx="4297680" cy="50292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80960" y="1188720"/>
            <a:ext cx="54864" cy="5029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261872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Why 0.5 is CORRECT &amp; Verifiable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1737360"/>
            <a:ext cx="4023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The sigmoid maps raw score h3 to [0,1]: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h3 = -4  =&gt;  0.018 (definitely absent)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h3 = -2  =&gt;  0.12  (absent)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h3 =  0  =&gt;  0.50  (uncertain)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h3 = +2  =&gt;  0.88  (present)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h3 = +4  =&gt;  0.98  (definitely present)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For Grape Esca: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Supporting necrosis: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  dark tissue, dead-cell textures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Opposing necrosis: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  no water-soaking, no bacterial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  ooze margin, fungal not bacterial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These cancel =&gt; h3 ~ 0 =&gt; 0.50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Verification — Faithfulness Test: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Force necrosis=1 for all Grape Esca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=&gt; accuracy DROPS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  =&gt; 0.5 was the correct operating point.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0.5 = honest uncertainty, not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12 Biological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The model thinks in terms of these symptoms — just like a plant doctor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Lesion 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9222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Color changes on diseased tissue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1188720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Lesion Shape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79222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Geometric form of disease spots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1188720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9904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Lesion Spread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179222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Extent of symptom progression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188720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188720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1261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1261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Necrosis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1792224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Dead / dying tissue formation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15184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615184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2688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88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Chlorosis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32186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Yellowing from chlorophyll loss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82112" y="2615184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82112" y="2615184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2688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2688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Wilting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2186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Drooping due to water stress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9904" y="2615184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9904" y="2615184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2688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1384" y="2688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Spotting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32186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Discrete spot patterns on leaf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97696" y="2615184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97696" y="2615184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07424" y="26883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2688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Blight Pattern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07424" y="32186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Rapid necrotic spread pattern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041648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4041648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Mold Presence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46451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Visible fungal growth on leaf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82112" y="4041648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82112" y="4041648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3592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Leaf Curl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46451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Leaf deformation / curling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9904" y="4041648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89904" y="4041648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9632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01384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Vein Discolor.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2" y="46451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Color change along leaf veins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97696" y="4041648"/>
            <a:ext cx="2743200" cy="1353312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97696" y="4041648"/>
            <a:ext cx="2743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07424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9176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Lesion Texture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07424" y="46451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Surface texture: rough or smooth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Each concept is a biologically meaningful symptom score (0 to 1) — the model must explain itself using these symptoms.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38 Disease Classes — Full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14 crops · 37 disease types · healthy variant per crop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651760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801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Total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572768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CC71"/>
                </a:solidFill>
                <a:latin typeface="Calibri"/>
              </a:rPr>
              <a:t>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188720"/>
            <a:ext cx="2651760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18872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2801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Crop Species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1572768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CC71"/>
                </a:solidFill>
                <a:latin typeface="Calibri"/>
              </a:rPr>
              <a:t>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188720"/>
            <a:ext cx="2651760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28016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Disease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572768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CC71"/>
                </a:solidFill>
                <a:latin typeface="Calibri"/>
              </a:rPr>
              <a:t>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188720"/>
            <a:ext cx="2999232" cy="86868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188720"/>
            <a:ext cx="2999232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1280160"/>
            <a:ext cx="281635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Largest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1572768"/>
            <a:ext cx="281635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Calibri"/>
              </a:rPr>
              <a:t>Tomato (10)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40280"/>
            <a:ext cx="3200400" cy="41605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224028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042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Tomato — 10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724912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Bacterial Spot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Early Blight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Late Blight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Leaf Mold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Septoria Leaf Spot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Spider Mites (Two-spotted)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Target Spot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Yellow Leaf Curl Virus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Mosaic Virus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2240280"/>
            <a:ext cx="3200400" cy="192024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03320" y="224028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23042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Apple — 4 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724912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Apple Scab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Black Rot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Cedar Apple Rust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ECC71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4297680"/>
            <a:ext cx="3200400" cy="21031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03320" y="4297680"/>
            <a:ext cx="32004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43616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Corn — 4 classes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773168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39C12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Cercospora Leaf Spot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39C12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Common Rust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39C12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Northern Leaf Blight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39C12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240280"/>
            <a:ext cx="4754880" cy="169164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0" y="2240280"/>
            <a:ext cx="475488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2304288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Calibri"/>
              </a:rPr>
              <a:t>Grape — 4 classes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724912"/>
            <a:ext cx="4480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8E44AD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Black Rot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8E44AD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Esca (Black Measles)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8E44AD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Leaf Blight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8E44AD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4069080"/>
            <a:ext cx="2240280" cy="2331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0" y="4069080"/>
            <a:ext cx="224028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413308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Potato — 3 classes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553712"/>
            <a:ext cx="2011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67E22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Early Blight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7E22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Late Blight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67E22"/>
                </a:solidFill>
                <a:latin typeface="Calibri"/>
              </a:rPr>
              <a:t>● </a:t>
            </a:r>
            <a:r>
              <a:rPr sz="120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4069080"/>
            <a:ext cx="2331720" cy="23317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55480" y="4069080"/>
            <a:ext cx="2331720" cy="4572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4133087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  <a:latin typeface="Calibri"/>
              </a:rPr>
              <a:t>Other 9 Crops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553712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CCDDEE"/>
                </a:solidFill>
                <a:latin typeface="Calibri"/>
              </a:rPr>
              <a:t>Cherry: Powdery Mildew, Healthy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DEE"/>
                </a:solidFill>
                <a:latin typeface="Calibri"/>
              </a:rPr>
              <a:t>Peach: Bacterial Spot, Healthy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DEE"/>
                </a:solidFill>
                <a:latin typeface="Calibri"/>
              </a:rPr>
              <a:t>Pepper: Bacterial Spot, Healthy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DEE"/>
                </a:solidFill>
                <a:latin typeface="Calibri"/>
              </a:rPr>
              <a:t>Strawberry: Leaf Scorch, Healthy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DEE"/>
                </a:solidFill>
                <a:latin typeface="Calibri"/>
              </a:rPr>
              <a:t>Orange: Citrus Greening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DEE"/>
                </a:solidFill>
                <a:latin typeface="Calibri"/>
              </a:rPr>
              <a:t>Blueberry / Raspberry / Soybean: Healthy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CCDDEE"/>
                </a:solidFill>
                <a:latin typeface="Calibri"/>
              </a:rPr>
              <a:t>Squash: Powdery Mildew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—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How accurate is the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Validation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99.91%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Validation 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99.78%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Test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99.25%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234440"/>
            <a:ext cx="2651760" cy="141732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1234440"/>
            <a:ext cx="26517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7" y="13258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Test F1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1618488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CC71"/>
                </a:solidFill>
                <a:latin typeface="Calibri"/>
              </a:rPr>
              <a:t>98.27%</a:t>
            </a:r>
          </a:p>
        </p:txBody>
      </p:sp>
      <p:pic>
        <p:nvPicPr>
          <p:cNvPr id="25" name="Picture 24" descr="fig3_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5760720" cy="2041984"/>
          </a:xfrm>
          <a:prstGeom prst="rect">
            <a:avLst/>
          </a:prstGeom>
        </p:spPr>
      </p:pic>
      <p:pic>
        <p:nvPicPr>
          <p:cNvPr id="26" name="Picture 25" descr="fig6_summary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834640"/>
            <a:ext cx="5669280" cy="17400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Visual check — did the model confuse any diseases?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PlantVillage Validation Set (8,145 images)</a:t>
            </a:r>
          </a:p>
        </p:txBody>
      </p:sp>
      <p:pic>
        <p:nvPicPr>
          <p:cNvPr id="10" name="Picture 9" descr="Validation_PlantVillag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08760"/>
            <a:ext cx="5852160" cy="50524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Combined Test Set (8,311 images — includes real field photos)</a:t>
            </a:r>
          </a:p>
        </p:txBody>
      </p:sp>
      <p:pic>
        <p:nvPicPr>
          <p:cNvPr id="12" name="Picture 11" descr="Test_Combined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08760"/>
            <a:ext cx="5852160" cy="50524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  <a:latin typeface="Calibri"/>
              </a:rPr>
              <a:t>Almost perfect diagonal — very few misclassifications across all 38 disease classes.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Explainability (XAI)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How do we know the model truly understands disease?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🔄  Counterfactual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Shows the minimum change to concepts
needed to flip a disease → healthy.
Tells farmers: 'fix THIS symptom first.'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📈  Faithfulness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Insertion AUC: 0.847
Deletion AUC: 0.312
Proves concepts genuinely drive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🎛 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Hard-setting each concept to 0 or 1
and measuring accuracy change.
Shows which concepts matter most.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34440"/>
            <a:ext cx="2743200" cy="36576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34440"/>
            <a:ext cx="27432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1325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🏆  Importance 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1874519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Ranks concepts by mean activation
across all validation images.
Surface the most common symptoms.</a:t>
            </a:r>
          </a:p>
        </p:txBody>
      </p:sp>
      <p:pic>
        <p:nvPicPr>
          <p:cNvPr id="25" name="Picture 24" descr="xai_fig2_faithfu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0"/>
            <a:ext cx="5669280" cy="2165595"/>
          </a:xfrm>
          <a:prstGeom prst="rect">
            <a:avLst/>
          </a:prstGeom>
        </p:spPr>
      </p:pic>
      <p:pic>
        <p:nvPicPr>
          <p:cNvPr id="26" name="Picture 25" descr="xai_fig4_concept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029200"/>
            <a:ext cx="5669280" cy="28060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Deployment — Live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Anyone can use it right now, from any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9144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  <a:latin typeface="Calibri"/>
              </a:rPr>
              <a:t>🌐  https://anushkamahraniya-palnt-disease-predictor.hf.space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📤 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Upload any leaf photo
from phone or browser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5263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55263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1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🔍  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1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Get disease name +
confidence score instantly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7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7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📊  XAI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See which symptoms
the model detected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17151" y="2286000"/>
            <a:ext cx="2651760" cy="182880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17151" y="228600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79" y="2377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⚡  Fast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79" y="28803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INT8 quantised model:
23% smaller, 1.3× faster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Demo: Grape Esca (Black Measles) — 99.5% confidence | XAI shows lesion_spread &amp; wilting activated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Comparison with State-of-the-Art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PlantDiseaseCBM vs other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4290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2801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188720"/>
            <a:ext cx="16002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12801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188720"/>
            <a:ext cx="16002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12801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F1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188720"/>
            <a:ext cx="233172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2801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188720"/>
            <a:ext cx="1600200" cy="566928"/>
          </a:xfrm>
          <a:prstGeom prst="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28016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Field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10512"/>
            <a:ext cx="34290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19019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PlantDiseaseCBM (Ours)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1810512"/>
            <a:ext cx="16002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19019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99.91%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810512"/>
            <a:ext cx="16002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19019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99.78%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810512"/>
            <a:ext cx="233172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190195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Concept (Full)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810512"/>
            <a:ext cx="16002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19019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432304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52374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Swin-Small (Black Box)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432304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2" y="25237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99.10%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432304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25237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99.01%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2432304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2523744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432304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7232" y="2523744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54096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14553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ResNet-50 + GradCAM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054096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14553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98.20%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054096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0992" y="314553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98.12%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3054096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88352" y="314553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⚠ Post-hoc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3054096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57232" y="3145536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75888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37673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Vision Transformer (ViT)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0" y="3675888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13632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97.80%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3675888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50992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97.70%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0" y="3675888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8352" y="376732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⚠ Attention map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80" y="3675888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57232" y="37673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297680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" y="438912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VGG-16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4297680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13632" y="43891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97.80%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4297680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50992" y="43891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97.75%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4297680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88352" y="438912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84080" y="4297680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57232" y="43891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919472"/>
            <a:ext cx="34290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7472" y="501091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MobileNet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4919472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13632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93.00%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77840" y="4919472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50992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92.30%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0" y="4919472"/>
            <a:ext cx="233172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88352" y="501091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❌ None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84080" y="4919472"/>
            <a:ext cx="1600200" cy="566928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57232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  <a:latin typeface="Calibri"/>
              </a:rPr>
              <a:t>✅ Yes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PlantDiseaseCBM is the ONLY model that is accurate AND explainable AND tested on real field images.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Research accepted at an international conference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1288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73152" cy="4937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Paper Title: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2801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Counterfactual Concept Bottleneck Networks with Squeeze-and-Excitation
for Explainable Plant Disease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39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Conference: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920239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ICDAM 2026 — 7th International Conference on Data Analytics &amp;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Paper ID: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6032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1082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Track: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20040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SS-13: AI and ML for Secure, Explainable, and Sustainable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4048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Publisher: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84048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Springer Nature – LNNS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8056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Indexed: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SCOPUS, INSPEC, zbMATH, SCImago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Status: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12064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 Accepted — Presentation scheduled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71"/>
                </a:solidFill>
                <a:latin typeface="Calibri"/>
              </a:rPr>
              <a:t>What was achieved and what comes next?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Anushka Mahraniya | 20221CSD0151 | Presidency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Calibri"/>
              </a:rPr>
              <a:t>✅  What We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99.91% accuracy on 38 disease classes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First CBM applied to multi-class
   plant disease detection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4 XAI tools for biological explanations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Deployed live on Hugging Face Space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Published at ICDAM 2026 (Springer LNNS)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2ECC71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23% smaller model via INT8 quantisation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577840" cy="4937760"/>
          </a:xfrm>
          <a:prstGeom prst="rect">
            <a:avLst/>
          </a:prstGeom>
          <a:solidFill>
            <a:srgbClr val="15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  <a:latin typeface="Calibri"/>
              </a:rPr>
              <a:t>🔭  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Expert-annotated concept labels
   from certified plant pathologists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Expand to 30+ disease concepts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TensorRT deployment for
   NVIDIA Jetson edge devices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Uncertainty estimation to flag
   low-confidence predictions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39C12"/>
                </a:solidFill>
                <a:latin typeface="Calibri"/>
              </a:rPr>
              <a:t>● </a:t>
            </a:r>
            <a:r>
              <a:rPr sz="1500">
                <a:solidFill>
                  <a:srgbClr val="FFFFFF"/>
                </a:solidFill>
                <a:latin typeface="Calibri"/>
              </a:rPr>
              <a:t>Mobile app for direct farmer 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CC7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Anushka Mahraniya  |  20221CSD0151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Guide: Meena Kumari K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  <a:latin typeface="Calibri"/>
              </a:rPr>
              <a:t>Presidency University,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  <a:latin typeface="Calibri"/>
              </a:rPr>
              <a:t>🌐  https://anushkamahraniya-palnt-disease-predictor.hf.space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EE"/>
                </a:solidFill>
                <a:latin typeface="Calibri"/>
              </a:rPr>
              <a:t>📧  anushkamahraniya@gmail.com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